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2F1E"/>
              </a:solidFill>
              <a:ln w="12700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9B85C"/>
              </a:solidFill>
              <a:ln w="12700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B2F1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902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2F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B2F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B2F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902A"/>
              </a:solidFill>
              <a:ln w="9525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3E6C8"/>
              </a:solidFill>
              <a:ln w="9525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</c:v>
                </c:pt>
                <c:pt idx="1">
                  <c:v>73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 using discounts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902A"/>
              </a:solidFill>
              <a:ln w="9525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3E6C8"/>
              </a:solidFill>
              <a:ln w="9525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0.001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Non-subscribers using discounts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902A"/>
              </a:solidFill>
              <a:ln w="9525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3E6C8"/>
              </a:solidFill>
              <a:ln w="9525" cap="flat">
                <a:solidFill>
                  <a:srgbClr val="FFFBF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22</c:v>
                </c:pt>
                <c:pt idx="1">
                  <c:v>78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902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2F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B2F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B2F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end-to-end analysis with Python, SQL and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2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B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D8A6"/>
                </a:solidFill>
              </a:rPr>
              <a:t>Uncovering insights from 3,900 purchases to guide strategic business decisions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B85C"/>
                </a:solidFill>
              </a:rPr>
              <a:t>Aragala Govardhan Reddy  |  Python · SQL · Power BI</a:t>
            </a:r>
            <a:endParaRPr lang="en-US" sz="1200" dirty="0"/>
          </a:p>
        </p:txBody>
      </p:sp>
      <p:pic>
        <p:nvPicPr>
          <p:cNvPr id="5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34440"/>
            <a:ext cx="4023360" cy="224942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5769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F1E"/>
                </a:solidFill>
              </a:rPr>
              <a:t>Total Purchases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One record per customer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3337560" y="1463040"/>
            <a:ext cx="2560320" cy="2377440"/>
          </a:xfrm>
          <a:prstGeom prst="roundRect">
            <a:avLst>
              <a:gd name="adj" fmla="val 5769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F1E"/>
                </a:solidFill>
              </a:rPr>
              <a:t>Raw Columns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19 after feature engineering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name="adj" fmla="val 5769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F1E"/>
                </a:solidFill>
              </a:rPr>
              <a:t>Missing Values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Only in Review Rating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1F"/>
                </a:solidFill>
              </a:rPr>
              <a:t>Features: demographics, purchase details, discounts, shipping, payment, and review ratings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Imported the CSV with pandas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502920" cy="50292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Exploration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info() and describe() for structure and statistics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02920" cy="50292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Filled 37 ratings with the category median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Features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Created age_group and purchase_frequency_days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2971800"/>
            <a:ext cx="502920" cy="50292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375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Answered 32 business questions in SQL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1F"/>
                </a:solidFill>
              </a:rPr>
              <a:t>Also verified 0 duplicates and dropped promo_code_used (identical to discount_applied)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1F"/>
                </a:solidFill>
              </a:rPr>
              <a:t>Key Insight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F1E"/>
                </a:solidFill>
              </a:rPr>
              <a:t>Male customers generate 68% of revenue ($157,890) versus 32% for female customers ($75,191)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37760" y="30175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74920" y="30632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F1E"/>
                </a:solidFill>
              </a:rPr>
              <a:t>Average spend per purchase is nearly equal ($59.54 vs. $60.25), so reaching more female shoppers is the opportunity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F1E"/>
                </a:solidFill>
              </a:rPr>
              <a:t>of total revenue comes from Clothing, the top category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Total revenue: $233,081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Average purchase: $59.76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Top-Rated Products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F1E"/>
                </a:solidFill>
              </a:rPr>
              <a:t>Gloves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A2E"/>
                </a:solidFill>
              </a:rPr>
              <a:t>Rank #1 by average rating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F1E"/>
                </a:solidFill>
              </a:rPr>
              <a:t>Sandals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A2E"/>
                </a:solidFill>
              </a:rPr>
              <a:t>Rank #2 by average rating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F1E"/>
                </a:solidFill>
              </a:rPr>
              <a:t>Boots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A2E"/>
                </a:solidFill>
              </a:rPr>
              <a:t>Rank #3 by average rating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F1E"/>
                </a:solidFill>
              </a:rPr>
              <a:t>Overall average rating is 3.75 / 5. Footwear (3.79) and Accessories (3.77) score slightly above Clothing (3.72).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Do Not Raise Spend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$60.13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F1E"/>
                </a:solidFill>
              </a:rPr>
              <a:t>Without discount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2,223 purchases (57%)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71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8A6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$59.28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F1E"/>
                </a:solidFill>
              </a:rPr>
              <a:t>With discount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1,677 purchases (43%)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11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F1E"/>
                </a:solidFill>
              </a:rPr>
              <a:t>Average purchase amount is about the same either way. Outerwear has the highest discount share (44%), and Seniors use discounts most (44%).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Impact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188720"/>
          <a:ext cx="21945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F1E"/>
                </a:solidFill>
              </a:rPr>
              <a:t>Subscribed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4A2E"/>
                </a:solidFill>
              </a:rPr>
              <a:t>1,053 of 3,900 customers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3474720" y="1188720"/>
          <a:ext cx="21945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4747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F1E"/>
                </a:solidFill>
              </a:rPr>
              <a:t>Subscribers using discounts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4A2E"/>
                </a:solidFill>
              </a:rPr>
              <a:t>Every subscriber purchase</a:t>
            </a:r>
            <a:endParaRPr lang="en-US" sz="13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6217920" y="1188720"/>
          <a:ext cx="21945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2179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60350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F1E"/>
                </a:solidFill>
              </a:rPr>
              <a:t>Non-subscribers using discounts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4A2E"/>
                </a:solidFill>
              </a:rPr>
              <a:t>624 of 2,847 customers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by Age Group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463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F1E"/>
                </a:solidFill>
              </a:rPr>
              <a:t>Young Adults lead at $62,143, but spending is balanced across all four age groups.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Top locations: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Montana, Illinois, California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pic>
        <p:nvPicPr>
          <p:cNvPr id="3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143000"/>
            <a:ext cx="6492240" cy="363016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Subscriptions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Only 27% subscribe. Promote exclusive benefits.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17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Discount Policy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Discounts do not raise spend. Protect margins.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Key Segments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Female and Outerwear customers spend as much but add less total revenue.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3E6C8"/>
          </a:solidFill>
          <a:ln w="12700">
            <a:solidFill>
              <a:srgbClr val="F3E6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B8902A"/>
          </a:solidFill>
          <a:ln w="12700">
            <a:solidFill>
              <a:srgbClr val="B89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and Positioning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A2E"/>
                </a:solidFill>
              </a:rPr>
              <a:t>Reward repeat buyers and feature top-rated products.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1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Retail">
  <a:themeElements>
    <a:clrScheme name="Warm Retail">
      <a:dk1>
        <a:srgbClr val="3B2F1E"/>
      </a:dk1>
      <a:lt1>
        <a:srgbClr val="FFFFFF"/>
      </a:lt1>
      <a:dk2>
        <a:srgbClr val="5A4A2E"/>
      </a:dk2>
      <a:lt2>
        <a:srgbClr val="FFFBF3"/>
      </a:lt2>
      <a:accent1>
        <a:srgbClr val="B8902A"/>
      </a:accent1>
      <a:accent2>
        <a:srgbClr val="3B2F1E"/>
      </a:accent2>
      <a:accent3>
        <a:srgbClr val="F3E6C8"/>
      </a:accent3>
      <a:accent4>
        <a:srgbClr val="D9B85C"/>
      </a:accent4>
      <a:accent5>
        <a:srgbClr val="8A6A1F"/>
      </a:accent5>
      <a:accent6>
        <a:srgbClr val="E9D8A6"/>
      </a:accent6>
      <a:hlink>
        <a:srgbClr val="B8902A"/>
      </a:hlink>
      <a:folHlink>
        <a:srgbClr val="8A6A1F"/>
      </a:folHlink>
    </a:clrScheme>
    <a:fontScheme name="Warm Retai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Aragala Govardhan Reddy</dc:creator>
  <cp:lastModifiedBy>Aragala Govardhan Reddy</cp:lastModifiedBy>
  <cp:revision>1</cp:revision>
  <dcterms:created xsi:type="dcterms:W3CDTF">2026-10-24T16:21:42Z</dcterms:created>
  <dcterms:modified xsi:type="dcterms:W3CDTF">2026-10-24T16:21:42Z</dcterms:modified>
</cp:coreProperties>
</file>